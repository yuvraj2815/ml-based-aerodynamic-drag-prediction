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76" r:id="rId2"/>
    <p:sldId id="257" r:id="rId3"/>
    <p:sldId id="258" r:id="rId4"/>
    <p:sldId id="259" r:id="rId5"/>
    <p:sldId id="260" r:id="rId6"/>
    <p:sldId id="262" r:id="rId7"/>
    <p:sldId id="261" r:id="rId8"/>
    <p:sldId id="265" r:id="rId9"/>
    <p:sldId id="268" r:id="rId10"/>
    <p:sldId id="269" r:id="rId11"/>
    <p:sldId id="27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65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42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E1E07-35A9-0A90-1967-28A1B09FD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21AAC-925B-CAB9-0711-43A7EB3B9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80D94-7195-47BA-37BA-FA94C9148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C94BF-033C-7A82-F0CF-3CC076731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28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112E5-0AC0-16D5-3A21-12CF6E9DE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EFB41-FED7-BC6D-15ED-DFBAE1247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674F0-72D0-E88E-D834-A6BAFFBB2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BD683-5E4D-F94F-DE6A-428473B4AA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54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CF3C1-1A61-4208-990E-400DBB3A2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DA8E64-B684-7152-41C7-3A76F30E7C5D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436A8C-B6AB-BCDD-184F-15D3A01EE265}"/>
              </a:ext>
            </a:extLst>
          </p:cNvPr>
          <p:cNvSpPr/>
          <p:nvPr/>
        </p:nvSpPr>
        <p:spPr>
          <a:xfrm>
            <a:off x="0" y="146302"/>
            <a:ext cx="9144000" cy="1160584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  <p:txBody>
          <a:bodyPr/>
          <a:lstStyle/>
          <a:p>
            <a:pPr algn="ctr"/>
            <a:r>
              <a:rPr lang="en-IN" sz="2800" b="1" u="sng" dirty="0">
                <a:solidFill>
                  <a:schemeClr val="bg1"/>
                </a:solidFill>
              </a:rPr>
              <a:t>ME 644</a:t>
            </a:r>
            <a:r>
              <a:rPr lang="en-IN" sz="28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IN" sz="2800" b="1" dirty="0">
                <a:solidFill>
                  <a:schemeClr val="bg1"/>
                </a:solidFill>
              </a:rPr>
              <a:t>Machine Learning for Engineers 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Prof: Malay K. Das</a:t>
            </a:r>
          </a:p>
          <a:p>
            <a:pPr algn="ctr"/>
            <a:r>
              <a:rPr lang="en-IN" sz="32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EA1D0CD-26F9-FEC2-F5BF-3DC17ABC87A8}"/>
              </a:ext>
            </a:extLst>
          </p:cNvPr>
          <p:cNvSpPr/>
          <p:nvPr/>
        </p:nvSpPr>
        <p:spPr>
          <a:xfrm>
            <a:off x="0" y="1322361"/>
            <a:ext cx="9144000" cy="2222695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ctr"/>
            <a:endParaRPr lang="en-IN" sz="3200" b="1" dirty="0"/>
          </a:p>
          <a:p>
            <a:pPr algn="ctr"/>
            <a:r>
              <a:rPr lang="en-IN" sz="3200" b="1" dirty="0"/>
              <a:t>AERODYNAMIC DRAG COEFFICIENT PREDICTION USING MACHINE LEARNING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C0518A6-A1B6-D367-3619-F884EE194914}"/>
              </a:ext>
            </a:extLst>
          </p:cNvPr>
          <p:cNvSpPr/>
          <p:nvPr/>
        </p:nvSpPr>
        <p:spPr>
          <a:xfrm>
            <a:off x="5020056" y="28712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B0F8BDA-BDEA-6545-6BA1-EB76CAC83D8C}"/>
              </a:ext>
            </a:extLst>
          </p:cNvPr>
          <p:cNvSpPr/>
          <p:nvPr/>
        </p:nvSpPr>
        <p:spPr>
          <a:xfrm>
            <a:off x="0" y="3545056"/>
            <a:ext cx="9144000" cy="1598443"/>
          </a:xfrm>
          <a:prstGeom prst="rect">
            <a:avLst/>
          </a:prstGeom>
          <a:solidFill>
            <a:srgbClr val="FFF9EE"/>
          </a:solidFill>
          <a:ln w="6350">
            <a:solidFill>
              <a:srgbClr val="C47D0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ctr"/>
            <a:r>
              <a:rPr lang="en-IN" sz="2400" b="1" u="sng" dirty="0"/>
              <a:t>PRESENTED BY:-</a:t>
            </a:r>
          </a:p>
          <a:p>
            <a:pPr algn="ctr"/>
            <a:r>
              <a:rPr lang="en-IN" sz="2000" dirty="0"/>
              <a:t>Yuvraj kumar</a:t>
            </a:r>
          </a:p>
          <a:p>
            <a:pPr algn="ctr"/>
            <a:r>
              <a:rPr lang="en-IN" sz="2000" dirty="0"/>
              <a:t>Roll No.-231204</a:t>
            </a:r>
            <a:br>
              <a:rPr lang="en-IN" sz="2800" dirty="0"/>
            </a:br>
            <a:endParaRPr lang="en-IN" sz="2800" dirty="0"/>
          </a:p>
        </p:txBody>
      </p:sp>
      <p:pic>
        <p:nvPicPr>
          <p:cNvPr id="36" name="Picture 35" descr="About | C3iHub">
            <a:extLst>
              <a:ext uri="{FF2B5EF4-FFF2-40B4-BE49-F238E27FC236}">
                <a16:creationId xmlns:a16="http://schemas.microsoft.com/office/drawing/2014/main" id="{7CF6C05E-906B-21DC-EE42-F0A6DD54E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709" y="241701"/>
            <a:ext cx="1055602" cy="105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89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28016"/>
            <a:ext cx="1362456" cy="256032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FFFF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4864"/>
            <a:ext cx="87965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</a:rPr>
              <a:t>What Is Aerodynamic Drag and Why Should We Predict It?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8375904" cy="0"/>
          </a:xfrm>
          <a:prstGeom prst="line">
            <a:avLst/>
          </a:prstGeom>
          <a:noFill/>
          <a:ln w="5080">
            <a:solidFill>
              <a:srgbClr val="C0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" y="1147574"/>
            <a:ext cx="4160520" cy="191261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722376"/>
            <a:ext cx="3858768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D8A"/>
                </a:solidFill>
              </a:rPr>
              <a:t>What is Aerodynamic Drag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" y="1536192"/>
            <a:ext cx="155448" cy="1554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536192"/>
            <a:ext cx="3657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Any object moving through air faces resistance —</a:t>
            </a:r>
            <a:r>
              <a:rPr lang="en-US" sz="1050" dirty="0">
                <a:solidFill>
                  <a:srgbClr val="0D1B2A"/>
                </a:solidFill>
              </a:rPr>
              <a:t> this is drag. For an aircraft flying at high speed, this force is enormous.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" y="1965960"/>
            <a:ext cx="155448" cy="15544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781812" y="1920240"/>
            <a:ext cx="357987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Drag acts opposite to motion.</a:t>
            </a:r>
            <a:r>
              <a:rPr lang="en-US" sz="1050" dirty="0">
                <a:solidFill>
                  <a:srgbClr val="0D1B2A"/>
                </a:solidFill>
              </a:rPr>
              <a:t> Think of it as air friction — the faster you go, the stronger it pushes back.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1396" y="2414016"/>
            <a:ext cx="155448" cy="155448"/>
          </a:xfrm>
          <a:prstGeom prst="ellipse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359152"/>
            <a:ext cx="365760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The drag coefficient C_D</a:t>
            </a:r>
            <a:r>
              <a:rPr lang="en-US" sz="1050" dirty="0">
                <a:solidFill>
                  <a:srgbClr val="0D1B2A"/>
                </a:solidFill>
              </a:rPr>
              <a:t> is a dimensionless number that rates aerodynamic efficiency. Lower = cleaner shape.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1188" y="3258314"/>
            <a:ext cx="4160520" cy="749808"/>
          </a:xfrm>
          <a:prstGeom prst="rect">
            <a:avLst/>
          </a:prstGeom>
          <a:solidFill>
            <a:srgbClr val="EAF2FF"/>
          </a:solidFill>
          <a:ln w="6350">
            <a:solidFill>
              <a:srgbClr val="1B6C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326895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D8A"/>
                </a:solidFill>
              </a:rPr>
              <a:t>The Drag Force Equation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3776" y="3601215"/>
            <a:ext cx="3931920" cy="347472"/>
          </a:xfrm>
          <a:prstGeom prst="rect">
            <a:avLst/>
          </a:prstGeom>
          <a:solidFill>
            <a:srgbClr val="EAF2FF"/>
          </a:solidFill>
          <a:ln w="6350">
            <a:solidFill>
              <a:srgbClr val="1B6C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5216" y="3601215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F_D  =  ½ · ρ · v²· C_D · 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147573"/>
            <a:ext cx="4160520" cy="1912617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635509"/>
            <a:ext cx="4014216" cy="14493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3232"/>
                </a:solidFill>
              </a:rPr>
              <a:t>The Real-World Cost of Getting It Wrong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18888" y="1513331"/>
            <a:ext cx="155448" cy="155448"/>
          </a:xfrm>
          <a:prstGeom prst="ellipse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0056" y="1513331"/>
            <a:ext cx="3657600" cy="973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1% reduction in C_D</a:t>
            </a:r>
            <a:r>
              <a:rPr lang="en-US" sz="1050" dirty="0">
                <a:solidFill>
                  <a:srgbClr val="0D1B2A"/>
                </a:solidFill>
              </a:rPr>
              <a:t> saves ~100,000 litres of fuel/year per aircraft. 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28032" y="1929384"/>
            <a:ext cx="155448" cy="155448"/>
          </a:xfrm>
          <a:prstGeom prst="ellipse">
            <a:avLst/>
          </a:prstGeom>
          <a:solidFill>
            <a:srgbClr val="C47D0A"/>
          </a:solidFill>
          <a:ln w="12700">
            <a:solidFill>
              <a:srgbClr val="C47D0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5020056" y="1879091"/>
            <a:ext cx="3657600" cy="973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Higher drag</a:t>
            </a:r>
            <a:r>
              <a:rPr lang="en-US" sz="1050" dirty="0">
                <a:solidFill>
                  <a:srgbClr val="0D1B2A"/>
                </a:solidFill>
              </a:rPr>
              <a:t> forces larger engines, heavier structure, shorter range. Everything compounds.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8032" y="2350009"/>
            <a:ext cx="155448" cy="155448"/>
          </a:xfrm>
          <a:prstGeom prst="ellipse">
            <a:avLst/>
          </a:prstGeom>
          <a:solidFill>
            <a:srgbClr val="5B3A8E"/>
          </a:solidFill>
          <a:ln w="12700">
            <a:solidFill>
              <a:srgbClr val="5B3A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263139"/>
            <a:ext cx="3657600" cy="9555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For drones &amp; UAVs:</a:t>
            </a:r>
            <a:r>
              <a:rPr lang="en-US" sz="1050" dirty="0">
                <a:solidFill>
                  <a:srgbClr val="0D1B2A"/>
                </a:solidFill>
              </a:rPr>
              <a:t> lower drag directly extends battery life and flight time.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54296" y="3197352"/>
            <a:ext cx="4160520" cy="1353312"/>
          </a:xfrm>
          <a:prstGeom prst="rect">
            <a:avLst/>
          </a:prstGeom>
          <a:solidFill>
            <a:srgbClr val="FFF9EE"/>
          </a:solidFill>
          <a:ln w="6350">
            <a:solidFill>
              <a:srgbClr val="C47D0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91456" y="3256787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47D0A"/>
                </a:solidFill>
              </a:rPr>
              <a:t>Why Traditional Methods Are Too Slow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754880" y="3563111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7D0A"/>
                </a:solidFill>
              </a:rPr>
              <a:t>✗ Wind tunnel test: Weeks + $500K–$1M per configuration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3864863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7D0A"/>
                </a:solidFill>
              </a:rPr>
              <a:t>✗ CFD simulation: Hours to days per operating point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4166615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A5F"/>
                </a:solidFill>
              </a:rPr>
              <a:t>★ ML surrogate : &lt; 1 millisecond — 100,000× faster than CFD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28016"/>
            <a:ext cx="1709928" cy="25603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FFFF"/>
                </a:solidFill>
              </a:rPr>
              <a:t>AIRFOIL GEOMETRY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475488"/>
            <a:ext cx="83759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</a:rPr>
              <a:t>NACA 4-Digit Airfoils for Our Wing Cross-Section Test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7472" y="1005840"/>
            <a:ext cx="8375904" cy="0"/>
          </a:xfrm>
          <a:prstGeom prst="line">
            <a:avLst/>
          </a:prstGeom>
          <a:noFill/>
          <a:ln w="5080">
            <a:solidFill>
              <a:srgbClr val="C0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" y="1161288"/>
            <a:ext cx="8449056" cy="658368"/>
          </a:xfrm>
          <a:prstGeom prst="rect">
            <a:avLst/>
          </a:prstGeom>
          <a:solidFill>
            <a:srgbClr val="EAF5FF"/>
          </a:solidFill>
          <a:ln w="6350">
            <a:solidFill>
              <a:srgbClr val="1B6C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896112"/>
            <a:ext cx="3776472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NACA  M    P    T 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46120" y="181051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A5F"/>
                </a:solidFill>
              </a:rPr>
              <a:t> </a:t>
            </a:r>
            <a:endParaRPr lang="en-US" sz="1100" dirty="0"/>
          </a:p>
        </p:txBody>
      </p:sp>
      <p:pic>
        <p:nvPicPr>
          <p:cNvPr id="16" name="Image 0" descr="/home/claude/report_charts/01_airfoil_profi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3190" y="1898904"/>
            <a:ext cx="4211330" cy="310743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298184" y="2322575"/>
            <a:ext cx="3179066" cy="2333245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Text 15"/>
          <p:cNvSpPr/>
          <p:nvPr/>
        </p:nvSpPr>
        <p:spPr>
          <a:xfrm>
            <a:off x="5544312" y="2476500"/>
            <a:ext cx="2932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Examples of Profiles in This Study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544312" y="2813305"/>
            <a:ext cx="932688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99176" y="2813305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NACA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77000" y="2813305"/>
            <a:ext cx="896112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1864" y="2813305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Camber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373112" y="2813305"/>
            <a:ext cx="896112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27976" y="2813305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t/c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544312" y="3069337"/>
            <a:ext cx="932688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99176" y="3069337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0009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477000" y="3069337"/>
            <a:ext cx="896112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31864" y="3069337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0%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373112" y="3069337"/>
            <a:ext cx="896112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27976" y="3069337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9%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544312" y="3311653"/>
            <a:ext cx="932688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99176" y="3311653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0012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477000" y="3311653"/>
            <a:ext cx="89611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31864" y="3311653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0%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373112" y="3311653"/>
            <a:ext cx="89611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27976" y="3311653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12%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532120" y="3563113"/>
            <a:ext cx="932688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586984" y="3563113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2412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6464808" y="3563113"/>
            <a:ext cx="896112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19672" y="3563113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2%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7360920" y="3563113"/>
            <a:ext cx="896112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415784" y="3563113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12%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5532120" y="3805429"/>
            <a:ext cx="932688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586984" y="3805429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2415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6464808" y="3805429"/>
            <a:ext cx="89611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519672" y="3805429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2%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7360920" y="3805429"/>
            <a:ext cx="89611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415784" y="3805429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15%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5532120" y="4047745"/>
            <a:ext cx="932688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586984" y="4047745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4409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6464808" y="4047745"/>
            <a:ext cx="896112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519672" y="4047745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4%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7360920" y="4047745"/>
            <a:ext cx="896112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415784" y="4047745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9%</a:t>
            </a:r>
            <a:endParaRPr lang="en-US" sz="950" dirty="0"/>
          </a:p>
        </p:txBody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0126377B-7A6D-992A-F020-71DDFD321F43}"/>
              </a:ext>
            </a:extLst>
          </p:cNvPr>
          <p:cNvSpPr/>
          <p:nvPr/>
        </p:nvSpPr>
        <p:spPr>
          <a:xfrm>
            <a:off x="559308" y="1170432"/>
            <a:ext cx="3720084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camber  </a:t>
            </a:r>
            <a:r>
              <a:rPr lang="en-US" sz="900" b="1" dirty="0" err="1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camber</a:t>
            </a:r>
            <a:r>
              <a:rPr lang="en-US" sz="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    Max thickness</a:t>
            </a:r>
            <a:endParaRPr lang="en-US" sz="20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71606508-DF97-C61C-6EB3-3F4BF837FA5E}"/>
              </a:ext>
            </a:extLst>
          </p:cNvPr>
          <p:cNvSpPr/>
          <p:nvPr/>
        </p:nvSpPr>
        <p:spPr>
          <a:xfrm>
            <a:off x="4197096" y="1194816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▸ M = Max camber as % of chord  (e.g. 2 → 2%)</a:t>
            </a:r>
            <a:endParaRPr lang="en-US" sz="105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1E4FB1CC-D3F0-DC90-2341-DD4512EC0A2C}"/>
              </a:ext>
            </a:extLst>
          </p:cNvPr>
          <p:cNvSpPr/>
          <p:nvPr/>
        </p:nvSpPr>
        <p:spPr>
          <a:xfrm>
            <a:off x="4197096" y="1359408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▸ P = Camber position in tenths  (e.g. 4 → 40% chord)</a:t>
            </a:r>
            <a:endParaRPr lang="en-US" sz="1050" dirty="0"/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45B2AFD5-865A-CD2C-B7C3-BC87A8ABAD50}"/>
              </a:ext>
            </a:extLst>
          </p:cNvPr>
          <p:cNvSpPr/>
          <p:nvPr/>
        </p:nvSpPr>
        <p:spPr>
          <a:xfrm>
            <a:off x="4197096" y="1524000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▸ TT = Max thickness as % of chord  (e.g. 12 → 12%)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28016"/>
            <a:ext cx="2752344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FFFF"/>
                </a:solidFill>
              </a:rPr>
              <a:t>AIRFOIL GEOMETRY — ANNOTATED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473964"/>
            <a:ext cx="83759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</a:rPr>
              <a:t>Example:-NACA 2412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11480" y="1004316"/>
            <a:ext cx="8375904" cy="0"/>
          </a:xfrm>
          <a:prstGeom prst="line">
            <a:avLst/>
          </a:prstGeom>
          <a:noFill/>
          <a:ln w="5080">
            <a:solidFill>
              <a:srgbClr val="C0D4E8"/>
            </a:solidFill>
            <a:prstDash val="solid"/>
          </a:ln>
        </p:spPr>
      </p:sp>
      <p:pic>
        <p:nvPicPr>
          <p:cNvPr id="8" name="Image 0" descr="/home/claude/report_charts/02_naca2412_annotat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6889" y="1760220"/>
            <a:ext cx="5577840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89320" y="1234440"/>
            <a:ext cx="2834640" cy="73152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2">
                <a:lumMod val="90000"/>
              </a:schemeClr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1234440"/>
            <a:ext cx="54864" cy="73152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08192" y="1289304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Chord line (grey dashed)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6089904" y="1441704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A straight line from leading edge to trailing edge. It is the reference line from which the angle of attack α is measured. 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89320" y="2039112"/>
            <a:ext cx="2834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47D0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89320" y="2039112"/>
            <a:ext cx="54864" cy="731520"/>
          </a:xfrm>
          <a:prstGeom prst="rect">
            <a:avLst/>
          </a:prstGeom>
          <a:solidFill>
            <a:srgbClr val="C47D0A"/>
          </a:solidFill>
          <a:ln w="12700">
            <a:solidFill>
              <a:srgbClr val="C47D0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08192" y="2093976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7D0A"/>
                </a:solidFill>
              </a:rPr>
              <a:t>Camber line (orange dashed)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68568" y="2235708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The mean line equidistant from upper and lower surfaces. For NACA 2412, it peaks at 2% of chord length (0.02c) at 40% of chord (0.4c).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89320" y="2843784"/>
            <a:ext cx="2834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B832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2843784"/>
            <a:ext cx="54864" cy="73152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08192" y="2898648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3232"/>
                </a:solidFill>
              </a:rPr>
              <a:t>Thickness arrow (red)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35624" y="3040380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The maximum perpendicular distance between upper and lower surfaces. For NACA 2412 it is 12% of chord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007608" y="3703320"/>
            <a:ext cx="2834640" cy="731520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13704" y="3700272"/>
            <a:ext cx="54864" cy="73152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08192" y="3703320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Leading edge (green dot)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089904" y="3909060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The foremost point of the airfoil. In real wings, this has a finite radius to prevent sharp leading-edge stall.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28016"/>
            <a:ext cx="249174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2491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FFFF"/>
                </a:solidFill>
              </a:rPr>
              <a:t>PHYSICS — DRAG COMPONENTS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9184" y="411480"/>
            <a:ext cx="83759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</a:rPr>
              <a:t>C_D = C_Df + C_Dp + C_Di + C_Dw + C_Ds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84048" y="941832"/>
            <a:ext cx="8375904" cy="0"/>
          </a:xfrm>
          <a:prstGeom prst="line">
            <a:avLst/>
          </a:prstGeom>
          <a:noFill/>
          <a:ln w="5080">
            <a:solidFill>
              <a:srgbClr val="C0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1273302"/>
            <a:ext cx="1609344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" y="1273302"/>
            <a:ext cx="1609344" cy="34747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291590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C_Df — Skin Friction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" y="165735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Air viscosity causes a thin boundary layer. Friction between slow near-wall air and fast outer flow creates a drag force on both surfaces.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38887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Blasius (laminar):  Cf_lam = 1.328 / √Re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772918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Prandtl-Schlichting: Cf_turb = 0.455/(log₁₀Re)²·⁵⁸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" y="343955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 err="1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C_Df</a:t>
            </a: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2·Cf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66544" y="1273302"/>
            <a:ext cx="1609344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66544" y="1273302"/>
            <a:ext cx="1609344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1291590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C_Dp — Pressure Drag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39696" y="165735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High pressure at front, low-pressure wake at rear. Thicker airfoils have a bigger pressure difference and more form drag.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48840" y="238887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Hoerner: C_Dp = Cf·(2·t/c + 60·(t/c)⁴)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48840" y="2772918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NACA 2412 (t/c=0.12)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48840" y="315696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 drag: C_D0 = C_Df + C_Dp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03904" y="1273302"/>
            <a:ext cx="1609344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03904" y="1273302"/>
            <a:ext cx="1609344" cy="347472"/>
          </a:xfrm>
          <a:prstGeom prst="rect">
            <a:avLst/>
          </a:prstGeom>
          <a:solidFill>
            <a:srgbClr val="C47D0A"/>
          </a:solidFill>
          <a:ln w="12700">
            <a:solidFill>
              <a:srgbClr val="C47D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1291590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C_Di — Induced Drag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77056" y="165735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Finite wings shed tip vortices when lifting. These tilt the effective lift vector backward — a drag penalty for producing lift.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86200" y="238887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Prandtl (1918): C_Di = C_L² / (π·e·AR)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86200" y="2772918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0.85 (Oswald eff.), AR = 8.0 (aspect ratio)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86200" y="315696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Drag polar: C_D = C_D0 + C_L²/(π·e·AR)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41264" y="1273302"/>
            <a:ext cx="1609344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41264" y="1273302"/>
            <a:ext cx="1609344" cy="347472"/>
          </a:xfrm>
          <a:prstGeom prst="rect">
            <a:avLst/>
          </a:prstGeom>
          <a:solidFill>
            <a:srgbClr val="5B3A8E"/>
          </a:solidFill>
          <a:ln w="12700">
            <a:solidFill>
              <a:srgbClr val="5B3A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1291590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C_Dw — Wave Drag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14416" y="165735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Near Ma=0.7, local shockwaves form even in subsonic flight. Energy is lost to compression — drag rises sharply.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23560" y="238887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Prandtl-Glauert: C_D = C_D0/√(1-Ma²)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23560" y="2772918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Wave spike: C_Dw = max(0,((Ma-0.7)/0.3)³)·0.10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23560" y="315696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Ma=0.7: factor=1.40 → C_D increases 40%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278624" y="1273302"/>
            <a:ext cx="1609344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78624" y="1273302"/>
            <a:ext cx="1609344" cy="34747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33488" y="1291590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C_Ds — Stall Drag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51776" y="165735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Past stall angle (~14-16°), boundary layer separates. Smooth sigmoid chosen to keep gradients well-defined for ML training.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60920" y="238887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C_Ds = 0.15 / (1 + exp(-2.5·(α - α_stall)))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360920" y="2772918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α_stall = 12 + 30·camber + 20·(t/c)  [degrees]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60920" y="315696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stall: C_D spikes 3-5× above cruise value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28016"/>
            <a:ext cx="2752344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FFFF"/>
                </a:solidFill>
              </a:rPr>
              <a:t>ANGLE OF ATTACK EFFECT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294" y="502920"/>
            <a:ext cx="90297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</a:rPr>
              <a:t>How C_D Changes with Angle of Attack (Why to Include C_Ds)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80848" y="1033272"/>
            <a:ext cx="8375904" cy="0"/>
          </a:xfrm>
          <a:prstGeom prst="line">
            <a:avLst/>
          </a:prstGeom>
          <a:noFill/>
          <a:ln w="5080">
            <a:solidFill>
              <a:srgbClr val="C0D4E8"/>
            </a:solidFill>
            <a:prstDash val="solid"/>
          </a:ln>
        </p:spPr>
      </p:sp>
      <p:pic>
        <p:nvPicPr>
          <p:cNvPr id="8" name="Image 0" descr="/home/claude/report_charts/03_cd_vs_alph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496" y="1161287"/>
            <a:ext cx="8522208" cy="2423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6032" y="3781044"/>
            <a:ext cx="28163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0D7A5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3781043"/>
            <a:ext cx="54864" cy="1234439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381762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A5F"/>
                </a:solidFill>
              </a:rPr>
              <a:t>Regime 1 — Attached Flow (−12° to ~10°)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4048" y="4073652"/>
            <a:ext cx="26151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C_D is low and nearly constant. Dominated by skin friction + small induced drag. This is the cruise condition. Higher Re gives lower C_D because turbulent C_f decreases: C_f ∝ (log Re)⁻²·⁵⁸.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0" y="3781044"/>
            <a:ext cx="28163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47D0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3781044"/>
            <a:ext cx="45719" cy="1234440"/>
          </a:xfrm>
          <a:prstGeom prst="rect">
            <a:avLst/>
          </a:prstGeom>
          <a:solidFill>
            <a:srgbClr val="C47D0A"/>
          </a:solidFill>
          <a:ln w="12700">
            <a:solidFill>
              <a:srgbClr val="C47D0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28416" y="381762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7D0A"/>
                </a:solidFill>
              </a:rPr>
              <a:t>Regime 2 — Pre-Stall (10° to ~14°)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28416" y="4073652"/>
            <a:ext cx="26151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C_D rises sharply as induced drag grows quadratically: C_Di = C_L²/(π·e·AR). The boundary layer also begins separating at the leading edge. This transition is the hardest region for ML models to learn.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44768" y="3781044"/>
            <a:ext cx="28163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32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44768" y="3781044"/>
            <a:ext cx="45719" cy="123444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72784" y="381762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3232"/>
                </a:solidFill>
              </a:rPr>
              <a:t>Regime 3 — Post-Stall (&gt;14°)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72784" y="4073652"/>
            <a:ext cx="26151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C_D spikes 3–5× as flow fully separates. Models assuming smooth functions (SVR, Poly Ridge) under-predict here. Random Forest and ANN handle sharp regime boundaries with tree splits / ReLU activations.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F6F58330-34E0-C071-3C36-46B816334F34}"/>
              </a:ext>
            </a:extLst>
          </p:cNvPr>
          <p:cNvSpPr/>
          <p:nvPr/>
        </p:nvSpPr>
        <p:spPr>
          <a:xfrm>
            <a:off x="2159000" y="1454018"/>
            <a:ext cx="5181600" cy="6582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28016"/>
            <a:ext cx="1883664" cy="25603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FFFF"/>
                </a:solidFill>
              </a:rPr>
              <a:t>DATASET GENERATION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804672"/>
            <a:ext cx="83759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</a:rPr>
              <a:t>Building the Dataset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7472" y="1335024"/>
            <a:ext cx="8375904" cy="0"/>
          </a:xfrm>
          <a:prstGeom prst="line">
            <a:avLst/>
          </a:prstGeom>
          <a:noFill/>
          <a:ln w="5080">
            <a:solidFill>
              <a:srgbClr val="C0D4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2286000"/>
            <a:ext cx="425196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88336" y="2350008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8 Input Features → 1 Output (C_D)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596896" y="2615184"/>
            <a:ext cx="100584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615184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02736" y="2615184"/>
            <a:ext cx="100584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2615184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Range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08576" y="2615184"/>
            <a:ext cx="2084832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615184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Physical Meaning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96896" y="2852928"/>
            <a:ext cx="1005840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285292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alpha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02736" y="2852928"/>
            <a:ext cx="1005840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285292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-12° to +21.5°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08576" y="2852928"/>
            <a:ext cx="2084832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852928"/>
            <a:ext cx="19751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Angle of attack — dominant predictor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96896" y="3063240"/>
            <a:ext cx="10058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3063240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log(Re)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02736" y="3063240"/>
            <a:ext cx="10058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0" y="3063240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5.0 to 6.7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08576" y="3063240"/>
            <a:ext cx="208483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063240"/>
            <a:ext cx="19751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Log Reynolds — skin friction level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96896" y="3273552"/>
            <a:ext cx="1005840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51760" y="3273552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Mach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02736" y="3273552"/>
            <a:ext cx="1005840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0" y="3273552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0.05 to 0.70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08576" y="3273552"/>
            <a:ext cx="2084832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273552"/>
            <a:ext cx="19751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Compressibility correction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596896" y="3483864"/>
            <a:ext cx="10058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51760" y="3483864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t/c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602736" y="3483864"/>
            <a:ext cx="10058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0" y="3483864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0.09 to 0.18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08576" y="3483864"/>
            <a:ext cx="208483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3483864"/>
            <a:ext cx="19751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Thickness → form drag (Hoerner)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96896" y="3694176"/>
            <a:ext cx="1005840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51760" y="3694176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camber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02736" y="3694176"/>
            <a:ext cx="1005840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0" y="3694176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0 to 0.04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08576" y="3694176"/>
            <a:ext cx="2084832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3694176"/>
            <a:ext cx="19751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Zero-lift angle shift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596896" y="3904488"/>
            <a:ext cx="10058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51760" y="390448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C_L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02736" y="3904488"/>
            <a:ext cx="10058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0" y="390448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-0.86 to 1.28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608576" y="3904488"/>
            <a:ext cx="208483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63440" y="3904488"/>
            <a:ext cx="19751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Pre-computed from thin airfoil theory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596896" y="4114800"/>
            <a:ext cx="1005840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51760" y="4114800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C_L²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602736" y="4114800"/>
            <a:ext cx="1005840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0" y="4114800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0 to 1.63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608576" y="4114800"/>
            <a:ext cx="2084832" cy="237744"/>
          </a:xfrm>
          <a:prstGeom prst="rect">
            <a:avLst/>
          </a:prstGeom>
          <a:solidFill>
            <a:srgbClr val="F3F8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63440" y="4114800"/>
            <a:ext cx="19751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Drag polar feature: C_Di ∝ C_L²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596896" y="4325112"/>
            <a:ext cx="10058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651760" y="4325112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Re·Ma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602736" y="4325112"/>
            <a:ext cx="10058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0" y="4325112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0.005 to 3.5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608576" y="4325112"/>
            <a:ext cx="208483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63440" y="4325112"/>
            <a:ext cx="19751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Normalised interaction term</a:t>
            </a:r>
            <a:endParaRPr lang="en-US" sz="95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49627BA-515E-3F18-5FD3-EF0136BD08D8}"/>
              </a:ext>
            </a:extLst>
          </p:cNvPr>
          <p:cNvSpPr txBox="1"/>
          <p:nvPr/>
        </p:nvSpPr>
        <p:spPr>
          <a:xfrm>
            <a:off x="2965309" y="1580126"/>
            <a:ext cx="3750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/>
              <a:t>C_D =f(alpha, Re, Mach, t/c, camber)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28016"/>
            <a:ext cx="2057400" cy="256032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FFFF"/>
                </a:solidFill>
              </a:rPr>
              <a:t>ML MODELS —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804672"/>
            <a:ext cx="83759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</a:rPr>
              <a:t>Regression Models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74320" y="1335024"/>
            <a:ext cx="8375904" cy="0"/>
          </a:xfrm>
          <a:prstGeom prst="line">
            <a:avLst/>
          </a:prstGeom>
          <a:noFill/>
          <a:ln w="5080">
            <a:solidFill>
              <a:srgbClr val="C0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1295" y="1572768"/>
            <a:ext cx="1609344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1295" y="1572768"/>
            <a:ext cx="1609344" cy="32918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6159" y="1581912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 Polynomial Ridge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6159" y="1773936"/>
            <a:ext cx="149961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</a:rPr>
              <a:t>Degree-3 features + L2 penalty.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4447" y="1938528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165 expanded features from 8 inputs (all cubic cross-terms). Closed-form solution. Fast but limited.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4447" y="281635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‖y-Φw‖² + λ‖w‖²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4447" y="3072384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6159" y="3456432"/>
            <a:ext cx="1499616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4447" y="3493008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A5F"/>
                </a:solidFill>
              </a:rPr>
              <a:t>✓ Fast, interpretable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4447" y="3694176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3232"/>
                </a:solidFill>
              </a:rPr>
              <a:t>✗ Fails at sharp stall transitions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4447" y="3931920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CA8"/>
                </a:solidFill>
              </a:rPr>
              <a:t>R²=0.9439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97302" y="1554480"/>
            <a:ext cx="1609344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97302" y="1554480"/>
            <a:ext cx="1609344" cy="329184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2166" y="156362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 Random Forest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52166" y="1755648"/>
            <a:ext cx="149961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</a:rPr>
              <a:t>200 bootstrap trees, averaged.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70454" y="192024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Each tree trained on different data sample. Random feature subsets decorrelate trees. No scaling needed.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70454" y="2798064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(1/200) Σ fₜ(x)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70454" y="3054096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52166" y="3438144"/>
            <a:ext cx="1499616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70454" y="3474720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A5F"/>
                </a:solidFill>
              </a:rPr>
              <a:t>✓ Best R²=0.9992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70454" y="3675888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A5F"/>
                </a:solidFill>
              </a:rPr>
              <a:t>✓ Free feature importance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70454" y="3913632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A5F"/>
                </a:solidFill>
              </a:rPr>
              <a:t>R²=0.9992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8755" y="1502087"/>
            <a:ext cx="1609344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8755" y="1502087"/>
            <a:ext cx="1609344" cy="329184"/>
          </a:xfrm>
          <a:prstGeom prst="rect">
            <a:avLst/>
          </a:prstGeom>
          <a:solidFill>
            <a:srgbClr val="C47D0A"/>
          </a:solidFill>
          <a:ln w="12700">
            <a:solidFill>
              <a:srgbClr val="C47D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3619" y="1511231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 SVR (RBF Kernel)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63619" y="1703255"/>
            <a:ext cx="149961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</a:rPr>
              <a:t>Epsilon-tube + RBF kernel.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81907" y="1867847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Finds flattest function within ε=0.001 tolerance zone. RBF kernel implicitly maps to infinite dims.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81907" y="2745671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47D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½‖w‖²+C·Σ(ξᵢ+ξᵢ*)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81907" y="3001703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63619" y="3385751"/>
            <a:ext cx="1499616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1907" y="3422327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A5F"/>
                </a:solidFill>
              </a:rPr>
              <a:t>✓ Good for small data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81907" y="3623495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3232"/>
                </a:solidFill>
              </a:rPr>
              <a:t>✗ Smooths stall spike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81907" y="3861239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7D0A"/>
                </a:solidFill>
              </a:rPr>
              <a:t>R²=0.9528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20209" y="1530014"/>
            <a:ext cx="1609344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120209" y="1530014"/>
            <a:ext cx="1609344" cy="329184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75073" y="1539158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 ANN 128→64→32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75073" y="1731182"/>
            <a:ext cx="149961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</a:rPr>
              <a:t>3 hidden layers, ReLU, Adam.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193361" y="1895774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Backpropagation + Adam optimiser with bias correction. Early stopping at 20 no-improve epochs.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193361" y="2773598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4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h⁽ˡ⁾ = ReLU(W⁽ˡ⁾h⁽ˡ⁻¹⁾+b⁽ˡ⁾)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193361" y="302963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175073" y="3413678"/>
            <a:ext cx="1499616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93361" y="3450254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A5F"/>
                </a:solidFill>
              </a:rPr>
              <a:t>✓ R²=0.9991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193361" y="3651422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3232"/>
                </a:solidFill>
              </a:rPr>
              <a:t>✓ Smooth nonlinear fits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193361" y="388916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D8A"/>
                </a:solidFill>
              </a:rPr>
              <a:t>R²=0.9991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28016"/>
            <a:ext cx="2665476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2665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FFFF"/>
                </a:solidFill>
              </a:rPr>
              <a:t>RESULTS — MODEL PERFORMANCE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804672"/>
            <a:ext cx="83759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</a:rPr>
              <a:t>All Models Evaluated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38912" y="1335024"/>
            <a:ext cx="8375904" cy="0"/>
          </a:xfrm>
          <a:prstGeom prst="line">
            <a:avLst/>
          </a:prstGeom>
          <a:noFill/>
          <a:ln w="5080">
            <a:solidFill>
              <a:srgbClr val="C0D4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58384" y="1481803"/>
            <a:ext cx="3456432" cy="2022539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95544" y="1539240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Metric Definitions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31536" y="1822704"/>
            <a:ext cx="3328416" cy="329184"/>
          </a:xfrm>
          <a:prstGeom prst="rect">
            <a:avLst/>
          </a:prstGeom>
          <a:solidFill>
            <a:srgbClr val="EAF2FF"/>
          </a:solidFill>
          <a:ln w="6350">
            <a:solidFill>
              <a:srgbClr val="1B6C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22976" y="1822704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 = (1/N)Σ|yᵢ-ŷᵢ|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31536" y="2206752"/>
            <a:ext cx="3328416" cy="329184"/>
          </a:xfrm>
          <a:prstGeom prst="rect">
            <a:avLst/>
          </a:prstGeom>
          <a:solidFill>
            <a:srgbClr val="EAF2FF"/>
          </a:solidFill>
          <a:ln w="6350">
            <a:solidFill>
              <a:srgbClr val="1B6C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522976" y="2206752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√[(1/N)Σ(yᵢ-ŷᵢ)²]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31536" y="2590800"/>
            <a:ext cx="3328416" cy="329184"/>
          </a:xfrm>
          <a:prstGeom prst="rect">
            <a:avLst/>
          </a:prstGeom>
          <a:solidFill>
            <a:srgbClr val="EAF2FF"/>
          </a:solidFill>
          <a:ln w="6350">
            <a:solidFill>
              <a:srgbClr val="1B6C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22976" y="2590800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  = 1 - Σ(yᵢ-ŷᵢ)²/Σ(yᵢ-ȳ)²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31536" y="2993136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R²=0.9992 means 99.92% of C_D variance explained. MAE=0.00113 means average error is 0.00113 in C_D units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92608" y="3616451"/>
            <a:ext cx="8607552" cy="1266439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" y="3680460"/>
            <a:ext cx="164592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4904" y="368046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965960" y="3680460"/>
            <a:ext cx="713232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020824" y="3680460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679192" y="3680460"/>
            <a:ext cx="713232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34056" y="3680460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RMSE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392424" y="3680460"/>
            <a:ext cx="658368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47288" y="36804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R²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050792" y="3680460"/>
            <a:ext cx="73152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05656" y="368046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Max Error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82312" y="3680460"/>
            <a:ext cx="4059936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37176" y="3680460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Why It Performs This Way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20040" y="3936492"/>
            <a:ext cx="1645920" cy="210312"/>
          </a:xfrm>
          <a:prstGeom prst="rect">
            <a:avLst/>
          </a:prstGeom>
          <a:solidFill>
            <a:srgbClr val="F5F9FF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3936492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Polynomial Ridge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1965960" y="3936492"/>
            <a:ext cx="713232" cy="210312"/>
          </a:xfrm>
          <a:prstGeom prst="rect">
            <a:avLst/>
          </a:prstGeom>
          <a:solidFill>
            <a:srgbClr val="F5F9FF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011680" y="3936492"/>
            <a:ext cx="6217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0.00987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679192" y="3936492"/>
            <a:ext cx="713232" cy="210312"/>
          </a:xfrm>
          <a:prstGeom prst="rect">
            <a:avLst/>
          </a:prstGeom>
          <a:solidFill>
            <a:srgbClr val="F5F9FF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24912" y="3936492"/>
            <a:ext cx="6217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0.01670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392424" y="3936492"/>
            <a:ext cx="658368" cy="210312"/>
          </a:xfrm>
          <a:prstGeom prst="rect">
            <a:avLst/>
          </a:prstGeom>
          <a:solidFill>
            <a:srgbClr val="F5F9FF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38144" y="3936492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0.9439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050792" y="3936492"/>
            <a:ext cx="731520" cy="210312"/>
          </a:xfrm>
          <a:prstGeom prst="rect">
            <a:avLst/>
          </a:prstGeom>
          <a:solidFill>
            <a:srgbClr val="F5F9FF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096512" y="3936492"/>
            <a:ext cx="640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0.0783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782312" y="3936492"/>
            <a:ext cx="4059936" cy="210312"/>
          </a:xfrm>
          <a:prstGeom prst="rect">
            <a:avLst/>
          </a:prstGeom>
          <a:solidFill>
            <a:srgbClr val="F5F9FF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28032" y="3936492"/>
            <a:ext cx="39684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Cubic polynomial cannot represent sharp stall sigmoid. Under-predicts C_D at high α.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20040" y="4151376"/>
            <a:ext cx="1645920" cy="210312"/>
          </a:xfrm>
          <a:prstGeom prst="rect">
            <a:avLst/>
          </a:prstGeom>
          <a:solidFill>
            <a:srgbClr val="D4F0E4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65760" y="4151376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A5F"/>
                </a:solidFill>
              </a:rPr>
              <a:t>Random Forest ★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1965960" y="4151376"/>
            <a:ext cx="713232" cy="210312"/>
          </a:xfrm>
          <a:prstGeom prst="rect">
            <a:avLst/>
          </a:prstGeom>
          <a:solidFill>
            <a:srgbClr val="D4F0E4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011680" y="4151376"/>
            <a:ext cx="6217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0.00113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679192" y="4151376"/>
            <a:ext cx="713232" cy="210312"/>
          </a:xfrm>
          <a:prstGeom prst="rect">
            <a:avLst/>
          </a:prstGeom>
          <a:solidFill>
            <a:srgbClr val="D4F0E4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724912" y="4151376"/>
            <a:ext cx="6217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0.00199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3392424" y="4151376"/>
            <a:ext cx="658368" cy="210312"/>
          </a:xfrm>
          <a:prstGeom prst="rect">
            <a:avLst/>
          </a:prstGeom>
          <a:solidFill>
            <a:srgbClr val="D4F0E4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438144" y="4151376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0.9992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050792" y="4151376"/>
            <a:ext cx="731520" cy="210312"/>
          </a:xfrm>
          <a:prstGeom prst="rect">
            <a:avLst/>
          </a:prstGeom>
          <a:solidFill>
            <a:srgbClr val="D4F0E4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096512" y="4151376"/>
            <a:ext cx="640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0.0189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782312" y="4151376"/>
            <a:ext cx="4059936" cy="210312"/>
          </a:xfrm>
          <a:prstGeom prst="rect">
            <a:avLst/>
          </a:prstGeom>
          <a:solidFill>
            <a:srgbClr val="D4F0E4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828032" y="4151376"/>
            <a:ext cx="39684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Tree splits match regime boundaries. Ensemble of 200 trees captures every non-linearity.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320040" y="4366260"/>
            <a:ext cx="1645920" cy="210312"/>
          </a:xfrm>
          <a:prstGeom prst="rect">
            <a:avLst/>
          </a:prstGeom>
          <a:solidFill>
            <a:srgbClr val="F5F0FF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65760" y="4366260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SVR (RBF)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1965960" y="4366260"/>
            <a:ext cx="713232" cy="210312"/>
          </a:xfrm>
          <a:prstGeom prst="rect">
            <a:avLst/>
          </a:prstGeom>
          <a:solidFill>
            <a:srgbClr val="F5F0FF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011680" y="4366260"/>
            <a:ext cx="6217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0.00778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679192" y="4366260"/>
            <a:ext cx="713232" cy="210312"/>
          </a:xfrm>
          <a:prstGeom prst="rect">
            <a:avLst/>
          </a:prstGeom>
          <a:solidFill>
            <a:srgbClr val="F5F0FF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724912" y="4366260"/>
            <a:ext cx="6217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0.01531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3392424" y="4366260"/>
            <a:ext cx="658368" cy="210312"/>
          </a:xfrm>
          <a:prstGeom prst="rect">
            <a:avLst/>
          </a:prstGeom>
          <a:solidFill>
            <a:srgbClr val="F5F0FF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438144" y="4366260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0.9528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4050792" y="4366260"/>
            <a:ext cx="731520" cy="210312"/>
          </a:xfrm>
          <a:prstGeom prst="rect">
            <a:avLst/>
          </a:prstGeom>
          <a:solidFill>
            <a:srgbClr val="F5F0FF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096512" y="4366260"/>
            <a:ext cx="640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0.0875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4782312" y="4366260"/>
            <a:ext cx="4059936" cy="210312"/>
          </a:xfrm>
          <a:prstGeom prst="rect">
            <a:avLst/>
          </a:prstGeom>
          <a:solidFill>
            <a:srgbClr val="F5F0FF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828032" y="4366260"/>
            <a:ext cx="39684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ε-tube smooths sharp transitions. Good in attached flow, worse near stall.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320040" y="4581144"/>
            <a:ext cx="1645920" cy="210312"/>
          </a:xfrm>
          <a:prstGeom prst="rect">
            <a:avLst/>
          </a:prstGeom>
          <a:solidFill>
            <a:srgbClr val="FFFBF0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65760" y="4581144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ANN (128-64-32)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1965960" y="4581144"/>
            <a:ext cx="713232" cy="210312"/>
          </a:xfrm>
          <a:prstGeom prst="rect">
            <a:avLst/>
          </a:prstGeom>
          <a:solidFill>
            <a:srgbClr val="FFFBF0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011680" y="4581144"/>
            <a:ext cx="6217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0.00126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2679192" y="4581144"/>
            <a:ext cx="713232" cy="210312"/>
          </a:xfrm>
          <a:prstGeom prst="rect">
            <a:avLst/>
          </a:prstGeom>
          <a:solidFill>
            <a:srgbClr val="FFFBF0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2724912" y="4581144"/>
            <a:ext cx="6217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0.00210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3392424" y="4581144"/>
            <a:ext cx="658368" cy="210312"/>
          </a:xfrm>
          <a:prstGeom prst="rect">
            <a:avLst/>
          </a:prstGeom>
          <a:solidFill>
            <a:srgbClr val="FFFBF0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3438144" y="4581144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0.9991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4050792" y="4581144"/>
            <a:ext cx="731520" cy="210312"/>
          </a:xfrm>
          <a:prstGeom prst="rect">
            <a:avLst/>
          </a:prstGeom>
          <a:solidFill>
            <a:srgbClr val="FFFBF0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096512" y="4581144"/>
            <a:ext cx="640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0.0203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4782312" y="4581144"/>
            <a:ext cx="4059936" cy="210312"/>
          </a:xfrm>
          <a:prstGeom prst="rect">
            <a:avLst/>
          </a:prstGeom>
          <a:solidFill>
            <a:srgbClr val="FFFBF0"/>
          </a:solidFill>
          <a:ln w="3810">
            <a:solidFill>
              <a:srgbClr val="DDE8FA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828032" y="4581144"/>
            <a:ext cx="39684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Three ReLU layers approximate stall sigmoid via piecewise linear composition.</a:t>
            </a:r>
            <a:endParaRPr lang="en-US" sz="900" dirty="0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A0852CCF-1CC2-FF52-719D-0FB3CD127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24" y="1481803"/>
            <a:ext cx="5046528" cy="20225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28016"/>
            <a:ext cx="2665476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2665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FFFF"/>
                </a:solidFill>
              </a:rPr>
              <a:t>RESULTS — PREDICTED VS TRUE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804672"/>
            <a:ext cx="83759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</a:rPr>
              <a:t>Predicted vs True C_D Scatter Plots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20040" y="1335024"/>
            <a:ext cx="8375904" cy="0"/>
          </a:xfrm>
          <a:prstGeom prst="line">
            <a:avLst/>
          </a:prstGeom>
          <a:noFill/>
          <a:ln w="5080">
            <a:solidFill>
              <a:srgbClr val="C0D4E8"/>
            </a:solidFill>
            <a:prstDash val="solid"/>
          </a:ln>
        </p:spPr>
      </p:sp>
      <p:pic>
        <p:nvPicPr>
          <p:cNvPr id="8" name="Image 0" descr="/home/claude/report_charts/08_pred_vs_tru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92808" y="1475230"/>
            <a:ext cx="4922520" cy="34505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BA1AD-7223-FE5C-10BA-82A7F6C2A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436F59-D337-E707-0BA9-EB555C955FF0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FEB6B4-7092-0938-9DF2-8A0D39A7DC44}"/>
              </a:ext>
            </a:extLst>
          </p:cNvPr>
          <p:cNvSpPr/>
          <p:nvPr/>
        </p:nvSpPr>
        <p:spPr>
          <a:xfrm>
            <a:off x="384048" y="128016"/>
            <a:ext cx="2665476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3C7B6C-C0A8-B0A5-D603-A8F9D4B2E2D3}"/>
              </a:ext>
            </a:extLst>
          </p:cNvPr>
          <p:cNvSpPr/>
          <p:nvPr/>
        </p:nvSpPr>
        <p:spPr>
          <a:xfrm>
            <a:off x="384048" y="128016"/>
            <a:ext cx="2665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FFFF"/>
                </a:solidFill>
              </a:rPr>
              <a:t>CONCLUSIONS AND FUTURE SCOPE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A8D8BD-469F-AFD8-5E21-7925D3510507}"/>
              </a:ext>
            </a:extLst>
          </p:cNvPr>
          <p:cNvSpPr/>
          <p:nvPr/>
        </p:nvSpPr>
        <p:spPr>
          <a:xfrm>
            <a:off x="384048" y="804672"/>
            <a:ext cx="83759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</a:rPr>
              <a:t>Conclusion and Future Scope</a:t>
            </a:r>
            <a:endParaRPr lang="en-US" sz="27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4EDC7C4-54EA-AF44-6093-58412B480E21}"/>
              </a:ext>
            </a:extLst>
          </p:cNvPr>
          <p:cNvSpPr/>
          <p:nvPr/>
        </p:nvSpPr>
        <p:spPr>
          <a:xfrm>
            <a:off x="320040" y="1335024"/>
            <a:ext cx="8375904" cy="0"/>
          </a:xfrm>
          <a:prstGeom prst="line">
            <a:avLst/>
          </a:prstGeom>
          <a:noFill/>
          <a:ln w="5080">
            <a:solidFill>
              <a:srgbClr val="C0D4E8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CF568F2-4967-8254-A435-0CFCBE1D8470}"/>
                  </a:ext>
                </a:extLst>
              </p:cNvPr>
              <p:cNvSpPr/>
              <p:nvPr/>
            </p:nvSpPr>
            <p:spPr>
              <a:xfrm>
                <a:off x="320040" y="1463040"/>
                <a:ext cx="8439912" cy="159105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IN" sz="1600" b="1" u="sng" dirty="0"/>
                  <a:t>Conclusion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100" dirty="0"/>
                  <a:t>Developed a </a:t>
                </a:r>
                <a:r>
                  <a:rPr lang="en-IN" sz="1100" b="1" dirty="0"/>
                  <a:t>physics-guided ML model</a:t>
                </a:r>
                <a:r>
                  <a:rPr lang="en-IN" sz="1100" dirty="0"/>
                  <a:t> to predict aerodynamic drag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sz="11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IN" sz="1100" dirty="0"/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100" dirty="0"/>
                  <a:t>Used drag decomposition: skin friction, pressure, induced, wave, and stall drag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100" dirty="0"/>
                  <a:t>Trained multiple models: Ridge, SVR, ANN, Random Forest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100" b="1" dirty="0"/>
                  <a:t>Random Forest performed best</a:t>
                </a:r>
                <a:r>
                  <a:rPr lang="en-IN" sz="1100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1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 sz="11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11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1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1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100">
                        <a:latin typeface="Cambria Math" panose="02040503050406030204" pitchFamily="18" charset="0"/>
                      </a:rPr>
                      <m:t>9992</m:t>
                    </m:r>
                  </m:oMath>
                </a14:m>
                <a:endParaRPr lang="ar-AE" sz="11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100" dirty="0"/>
                  <a:t>Achieved </a:t>
                </a:r>
                <a:r>
                  <a:rPr lang="en-IN" sz="1100" b="1" dirty="0"/>
                  <a:t>very fast prediction (&lt; 1 </a:t>
                </a:r>
                <a:r>
                  <a:rPr lang="en-IN" sz="1100" b="1" dirty="0" err="1"/>
                  <a:t>ms</a:t>
                </a:r>
                <a:r>
                  <a:rPr lang="en-IN" sz="1100" b="1" dirty="0"/>
                  <a:t>)</a:t>
                </a:r>
                <a:r>
                  <a:rPr lang="en-IN" sz="1100" dirty="0"/>
                  <a:t> compared to CFD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100" dirty="0"/>
                  <a:t>Ensured </a:t>
                </a:r>
                <a:r>
                  <a:rPr lang="en-IN" sz="1100" b="1" dirty="0"/>
                  <a:t>high accuracy + physical consistency</a:t>
                </a:r>
                <a:r>
                  <a:rPr lang="en-IN" sz="1100" dirty="0"/>
                  <a:t>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CF568F2-4967-8254-A435-0CFCBE1D84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1463040"/>
                <a:ext cx="8439912" cy="1591055"/>
              </a:xfrm>
              <a:prstGeom prst="rect">
                <a:avLst/>
              </a:prstGeom>
              <a:blipFill>
                <a:blip r:embed="rId3"/>
                <a:stretch>
                  <a:fillRect l="-3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8836EB4C-17AB-450B-2A8F-5DC4D780110F}"/>
              </a:ext>
            </a:extLst>
          </p:cNvPr>
          <p:cNvSpPr/>
          <p:nvPr/>
        </p:nvSpPr>
        <p:spPr>
          <a:xfrm>
            <a:off x="320040" y="3182110"/>
            <a:ext cx="8439912" cy="16946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u="sng" dirty="0"/>
              <a:t>Future Scope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Extend from </a:t>
            </a:r>
            <a:r>
              <a:rPr lang="en-US" sz="1200" b="1" dirty="0"/>
              <a:t>2D airfoils to full 3D wing analysis</a:t>
            </a:r>
            <a:r>
              <a:rPr lang="en-US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 advanced models like </a:t>
            </a:r>
            <a:r>
              <a:rPr lang="en-US" sz="1200" b="1" dirty="0"/>
              <a:t>CNNs / deep learning for geometry-based prediction</a:t>
            </a:r>
            <a:r>
              <a:rPr lang="en-US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Expand to </a:t>
            </a:r>
            <a:r>
              <a:rPr lang="en-US" sz="1200" b="1" dirty="0"/>
              <a:t>unsteady flow conditions</a:t>
            </a:r>
            <a:r>
              <a:rPr lang="en-US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Develop </a:t>
            </a:r>
            <a:r>
              <a:rPr lang="en-US" sz="1200" b="1" dirty="0"/>
              <a:t>real-time tools / software integration</a:t>
            </a:r>
            <a:r>
              <a:rPr lang="en-US" sz="1200" dirty="0"/>
              <a:t> for practical use</a:t>
            </a:r>
          </a:p>
          <a:p>
            <a:pPr algn="ctr"/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721233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1380</TotalTime>
  <Words>1711</Words>
  <Application>Microsoft Office PowerPoint</Application>
  <PresentationFormat>On-screen Show (16:9)</PresentationFormat>
  <Paragraphs>222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Aerodynamic Drag Prediction — ME644 IIT Kanpur</dc:title>
  <dc:subject>PptxGenJS Presentation</dc:subject>
  <dc:creator>PptxGenJS</dc:creator>
  <cp:lastModifiedBy>yuvraj kumar</cp:lastModifiedBy>
  <cp:revision>3</cp:revision>
  <dcterms:created xsi:type="dcterms:W3CDTF">2026-04-15T05:31:37Z</dcterms:created>
  <dcterms:modified xsi:type="dcterms:W3CDTF">2026-04-18T11:29:48Z</dcterms:modified>
</cp:coreProperties>
</file>